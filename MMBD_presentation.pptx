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2" r:id="rId12"/>
    <p:sldId id="273" r:id="rId13"/>
    <p:sldId id="274" r:id="rId14"/>
    <p:sldId id="275" r:id="rId15"/>
    <p:sldId id="276" r:id="rId16"/>
    <p:sldId id="277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21176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607175" y="1156369"/>
            <a:ext cx="5017500" cy="15164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2800" dirty="0"/>
              <a:t>Predicting sample size required for classification performance</a:t>
            </a:r>
            <a:endParaRPr sz="2800"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3607175" y="2999150"/>
            <a:ext cx="4947600" cy="507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AI-2, Roman Prokopchuk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418D3-722E-58F9-03E2-3B8954E17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647465"/>
          </a:xfrm>
        </p:spPr>
        <p:txBody>
          <a:bodyPr/>
          <a:lstStyle/>
          <a:p>
            <a:r>
              <a:rPr lang="en-US" dirty="0"/>
              <a:t>Motivation</a:t>
            </a:r>
            <a:endParaRPr lang="uk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CE05339-EF44-C33E-5C24-71992F094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114634"/>
            <a:ext cx="7038900" cy="3364116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sz="1400" dirty="0"/>
              <a:t>Why is this important?</a:t>
            </a:r>
            <a:endParaRPr lang="uk-UA" sz="1400" dirty="0"/>
          </a:p>
          <a:p>
            <a:pPr marL="146050" indent="0">
              <a:buNone/>
            </a:pPr>
            <a:endParaRPr lang="en-US" sz="1400" dirty="0"/>
          </a:p>
          <a:p>
            <a:r>
              <a:rPr lang="en-GB" sz="1400" dirty="0"/>
              <a:t>Human-annotated data is a scarce resource, and its creation is expensive in terms of both money and time</a:t>
            </a:r>
            <a:r>
              <a:rPr lang="uk-UA" sz="1400" dirty="0"/>
              <a:t>(</a:t>
            </a:r>
            <a:r>
              <a:rPr lang="en-US" sz="1400" dirty="0"/>
              <a:t>e.g. clinical notes);</a:t>
            </a:r>
          </a:p>
          <a:p>
            <a:r>
              <a:rPr lang="en-GB" sz="1400" dirty="0"/>
              <a:t>In research, sample size decisions are often made based on ad hoc budget constraints rather than the expected performance of the classifier;</a:t>
            </a:r>
          </a:p>
          <a:p>
            <a:endParaRPr lang="en-GB" sz="1400" dirty="0"/>
          </a:p>
          <a:p>
            <a:endParaRPr lang="en-GB" sz="1400" dirty="0"/>
          </a:p>
          <a:p>
            <a:pPr marL="146050" indent="0">
              <a:buNone/>
            </a:pPr>
            <a:r>
              <a:rPr lang="en-GB" sz="1400" i="1" dirty="0"/>
              <a:t>Predicting performance allows researchers to evaluate whether paying for additional annotations is actually worth the investment before committing resources</a:t>
            </a:r>
          </a:p>
          <a:p>
            <a:endParaRPr lang="en-GB" sz="1400" dirty="0"/>
          </a:p>
          <a:p>
            <a:pPr marL="488950" indent="-342900">
              <a:buFont typeface="+mj-lt"/>
              <a:buAutoNum type="arabicPeriod"/>
            </a:pPr>
            <a:endParaRPr lang="uk-UA" sz="1400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49236246-7677-7D89-3AC8-C6950FF82B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2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64251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CD7385-2175-B002-D651-1C31C112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401089"/>
            <a:ext cx="7038900" cy="527324"/>
          </a:xfrm>
        </p:spPr>
        <p:txBody>
          <a:bodyPr>
            <a:noAutofit/>
          </a:bodyPr>
          <a:lstStyle/>
          <a:p>
            <a:r>
              <a:rPr lang="en-US" sz="2000" dirty="0"/>
              <a:t>Previous and related work(Mukherjee’s approach)</a:t>
            </a:r>
            <a:r>
              <a:rPr lang="uk-UA" sz="2000" dirty="0"/>
              <a:t>: </a:t>
            </a:r>
            <a:r>
              <a:rPr lang="en-US" sz="2000" dirty="0"/>
              <a:t>Learning curve fitting</a:t>
            </a:r>
            <a:endParaRPr lang="uk-UA" sz="2000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F6CBA83-D27C-AA18-FD17-6AE92BEFE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628566"/>
            <a:ext cx="7038900" cy="2850183"/>
          </a:xfrm>
        </p:spPr>
        <p:txBody>
          <a:bodyPr>
            <a:normAutofit/>
          </a:bodyPr>
          <a:lstStyle/>
          <a:p>
            <a:r>
              <a:rPr lang="en-US" sz="1600" dirty="0"/>
              <a:t>Learning curve - </a:t>
            </a:r>
            <a:r>
              <a:rPr lang="en-GB" sz="1600" dirty="0"/>
              <a:t>a collection of data points showing how classifier performance relates to training sample size</a:t>
            </a:r>
          </a:p>
          <a:p>
            <a:r>
              <a:rPr lang="en-GB" sz="1600" dirty="0"/>
              <a:t>Curve consists of three stages:</a:t>
            </a:r>
          </a:p>
          <a:p>
            <a:pPr lvl="1">
              <a:buFont typeface="+mj-lt"/>
              <a:buAutoNum type="arabicPeriod"/>
            </a:pPr>
            <a:r>
              <a:rPr lang="en-GB" sz="1400" dirty="0"/>
              <a:t>Rapid performance increase</a:t>
            </a:r>
          </a:p>
          <a:p>
            <a:pPr lvl="1">
              <a:buFont typeface="+mj-lt"/>
              <a:buAutoNum type="arabicPeriod"/>
            </a:pPr>
            <a:r>
              <a:rPr lang="en-GB" sz="1400" dirty="0"/>
              <a:t>A turning point with slower growth</a:t>
            </a:r>
          </a:p>
          <a:p>
            <a:pPr lvl="1">
              <a:buFont typeface="+mj-lt"/>
              <a:buAutoNum type="arabicPeriod"/>
            </a:pPr>
            <a:r>
              <a:rPr lang="en-GB" sz="1400" dirty="0"/>
              <a:t>An efficiency threshold (plateau) with marginal improvement.</a:t>
            </a:r>
          </a:p>
          <a:p>
            <a:endParaRPr lang="en-GB" sz="1600" dirty="0"/>
          </a:p>
          <a:p>
            <a:pPr marL="146050" indent="0">
              <a:buNone/>
            </a:pPr>
            <a:endParaRPr lang="en-GB" sz="1600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C247006-31F6-122A-3397-5531E43976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3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19805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8D5EB-2475-DD87-25CE-74E7F9A5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curve example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08D29E-D360-4068-C1CB-F724ADE10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82" y="1217184"/>
            <a:ext cx="4681635" cy="3611931"/>
          </a:xfrm>
          <a:prstGeom prst="rect">
            <a:avLst/>
          </a:prstGeom>
        </p:spPr>
      </p:pic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9BE4E98-2DFD-7D77-5BA1-64E2D8FAD9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4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3979739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2CFF8-44DB-F404-FD27-BE65AAB61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340440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Previous and related work</a:t>
            </a:r>
            <a:r>
              <a:rPr lang="uk-UA" sz="2000" dirty="0"/>
              <a:t> </a:t>
            </a:r>
            <a:r>
              <a:rPr lang="en-US" sz="2000" dirty="0"/>
              <a:t>(Mukherjee’s approach)</a:t>
            </a:r>
            <a:r>
              <a:rPr lang="uk-UA" sz="2000" dirty="0"/>
              <a:t>: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E860D5F-1A2D-4BEF-15A5-6370A24BD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215" y="927749"/>
            <a:ext cx="7295185" cy="3884531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sz="1400" i="1" dirty="0"/>
              <a:t>Mukherjee’s approach results</a:t>
            </a:r>
            <a:r>
              <a:rPr lang="en-US" sz="1400" dirty="0"/>
              <a:t>:</a:t>
            </a:r>
          </a:p>
          <a:p>
            <a:pPr marL="146050" indent="0">
              <a:buNone/>
            </a:pPr>
            <a:endParaRPr lang="en-GB" dirty="0"/>
          </a:p>
          <a:p>
            <a:r>
              <a:rPr lang="en-GB" dirty="0"/>
              <a:t>Mukherjee et al. fitted inverse power laws to empirical learning curves to forecast performance at larger sample sizes</a:t>
            </a:r>
            <a:r>
              <a:rPr lang="en-US" dirty="0"/>
              <a:t>. </a:t>
            </a:r>
            <a:r>
              <a:rPr lang="en-GB" dirty="0"/>
              <a:t>A permutation test procedure was used to assess the statistical significance of the classification performance</a:t>
            </a:r>
            <a:r>
              <a:rPr lang="uk-UA" dirty="0"/>
              <a:t> </a:t>
            </a:r>
            <a:r>
              <a:rPr lang="en-GB" dirty="0"/>
              <a:t>for a given dataset size;</a:t>
            </a:r>
            <a:endParaRPr lang="uk-UA" dirty="0"/>
          </a:p>
          <a:p>
            <a:r>
              <a:rPr lang="en-GB" dirty="0"/>
              <a:t>Evaluated on relatively small microarray datasets (n=53 to 280);</a:t>
            </a:r>
          </a:p>
          <a:p>
            <a:r>
              <a:rPr lang="en-GB" dirty="0"/>
              <a:t>The differences between predicted and actual classification errors were in the range of 1%–7%;</a:t>
            </a:r>
            <a:endParaRPr lang="uk-UA" dirty="0"/>
          </a:p>
          <a:p>
            <a:endParaRPr lang="uk-UA" dirty="0"/>
          </a:p>
          <a:p>
            <a:pPr marL="146050" indent="0">
              <a:buNone/>
            </a:pPr>
            <a:r>
              <a:rPr lang="en-US" i="1" dirty="0"/>
              <a:t>Limitations</a:t>
            </a:r>
            <a:r>
              <a:rPr lang="en-US" dirty="0"/>
              <a:t>:</a:t>
            </a:r>
          </a:p>
          <a:p>
            <a:r>
              <a:rPr lang="en-GB" dirty="0"/>
              <a:t>The Mukherjee algorithm treats all empirical data points on the learning curve with equal importance</a:t>
            </a:r>
            <a:r>
              <a:rPr lang="uk-UA" dirty="0"/>
              <a:t>. </a:t>
            </a:r>
            <a:r>
              <a:rPr lang="en-GB" dirty="0"/>
              <a:t>However, performance at larger sample sizes is more indicative of the classifier's true future behaviour</a:t>
            </a:r>
            <a:endParaRPr lang="uk-UA" dirty="0"/>
          </a:p>
          <a:p>
            <a:pPr marL="146050" indent="0">
              <a:buNone/>
            </a:pPr>
            <a:endParaRPr lang="en-GB" dirty="0"/>
          </a:p>
          <a:p>
            <a:pPr marL="146050" indent="0">
              <a:buNone/>
            </a:pPr>
            <a:r>
              <a:rPr lang="en-US" i="1" dirty="0"/>
              <a:t>Solution</a:t>
            </a:r>
            <a:r>
              <a:rPr lang="en-US" dirty="0"/>
              <a:t>: weighted fitting method</a:t>
            </a:r>
            <a:r>
              <a:rPr lang="uk-UA" dirty="0"/>
              <a:t>, </a:t>
            </a:r>
            <a:r>
              <a:rPr lang="en-US" dirty="0"/>
              <a:t>proposed by authors</a:t>
            </a:r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1BB88C7-7173-BB7C-FAE6-BC6574BA76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5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188776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D114C-332A-8A7C-9F3D-F912609C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660814"/>
          </a:xfrm>
        </p:spPr>
        <p:txBody>
          <a:bodyPr/>
          <a:lstStyle/>
          <a:p>
            <a:r>
              <a:rPr lang="en-US" dirty="0"/>
              <a:t>Proposed algorithm</a:t>
            </a:r>
            <a:endParaRPr lang="uk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FF2512B-28D4-F354-8927-CD4A14CD4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704071"/>
            <a:ext cx="7038900" cy="1735358"/>
          </a:xfrm>
        </p:spPr>
        <p:txBody>
          <a:bodyPr>
            <a:normAutofit/>
          </a:bodyPr>
          <a:lstStyle/>
          <a:p>
            <a:pPr marL="146050" indent="0">
              <a:buNone/>
            </a:pPr>
            <a:r>
              <a:rPr lang="en-US" sz="1400" dirty="0"/>
              <a:t>Proposed algorithm consists of three steps:</a:t>
            </a:r>
          </a:p>
          <a:p>
            <a:pPr marL="146050" indent="0">
              <a:buNone/>
            </a:pPr>
            <a:endParaRPr lang="en-US" sz="1400" dirty="0"/>
          </a:p>
          <a:p>
            <a:pPr marL="488950" indent="-342900">
              <a:buFont typeface="+mj-lt"/>
              <a:buAutoNum type="arabicPeriod"/>
            </a:pPr>
            <a:r>
              <a:rPr lang="en-US" sz="1400" dirty="0"/>
              <a:t>Learning curve creation</a:t>
            </a:r>
          </a:p>
          <a:p>
            <a:pPr marL="488950" indent="-342900">
              <a:buFont typeface="+mj-lt"/>
              <a:buAutoNum type="arabicPeriod"/>
            </a:pPr>
            <a:r>
              <a:rPr lang="en-GB" sz="1400" dirty="0"/>
              <a:t>Model fitting and parameter identification</a:t>
            </a:r>
            <a:endParaRPr lang="en-US" sz="1400" dirty="0"/>
          </a:p>
          <a:p>
            <a:pPr marL="488950" indent="-342900">
              <a:buFont typeface="+mj-lt"/>
              <a:buAutoNum type="arabicPeriod"/>
            </a:pPr>
            <a:r>
              <a:rPr lang="en-US" sz="1400" dirty="0"/>
              <a:t>Sample size prediction</a:t>
            </a:r>
          </a:p>
          <a:p>
            <a:pPr marL="488950" indent="-342900">
              <a:buFont typeface="+mj-lt"/>
              <a:buAutoNum type="arabicPeriod"/>
            </a:pPr>
            <a:endParaRPr lang="uk-UA" sz="1400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467CA43F-DAB1-EC95-FCCB-B754F1EFDD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6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3978161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367736-8499-83F9-BAEF-881411D1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560697"/>
          </a:xfrm>
        </p:spPr>
        <p:txBody>
          <a:bodyPr>
            <a:normAutofit fontScale="90000"/>
          </a:bodyPr>
          <a:lstStyle/>
          <a:p>
            <a:r>
              <a:rPr lang="en-US" dirty="0"/>
              <a:t>Step 1: Learning curve creation</a:t>
            </a:r>
            <a:br>
              <a:rPr lang="en-US" dirty="0"/>
            </a:b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Місце для тексту 2">
                <a:extLst>
                  <a:ext uri="{FF2B5EF4-FFF2-40B4-BE49-F238E27FC236}">
                    <a16:creationId xmlns:a16="http://schemas.microsoft.com/office/drawing/2014/main" id="{1B18A7DB-F784-2501-E792-04E578CA773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52550" y="1655222"/>
                <a:ext cx="7038900" cy="2095778"/>
              </a:xfrm>
            </p:spPr>
            <p:txBody>
              <a:bodyPr/>
              <a:lstStyle/>
              <a:p>
                <a:r>
                  <a:rPr lang="en-US" i="1" u="sng" dirty="0"/>
                  <a:t>The objective</a:t>
                </a:r>
                <a:r>
                  <a:rPr lang="en-US" dirty="0"/>
                  <a:t>: </a:t>
                </a:r>
                <a:r>
                  <a:rPr lang="en-GB" dirty="0"/>
                  <a:t>create a learning curve that characterizes classification accuracy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as a function of the training set size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);</a:t>
                </a:r>
              </a:p>
              <a:p>
                <a:endParaRPr lang="en-US" dirty="0"/>
              </a:p>
              <a:p>
                <a:r>
                  <a:rPr lang="en-GB" i="1" u="sng" dirty="0"/>
                  <a:t>The process</a:t>
                </a:r>
                <a:r>
                  <a:rPr lang="en-GB" dirty="0"/>
                  <a:t>: Classifiers are created and tested at increasing training set sizes:</a:t>
                </a:r>
              </a:p>
              <a:p>
                <a:pPr lvl="1"/>
                <a:r>
                  <a:rPr lang="en-GB" dirty="0"/>
                  <a:t>Training sample size increases by a constant batch size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(e.g.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…)</a:t>
                </a:r>
              </a:p>
              <a:p>
                <a:pPr lvl="1"/>
                <a:r>
                  <a:rPr lang="en-GB" dirty="0"/>
                  <a:t>Accuracy is calculated at each step using an independent test set or through n-fold cross validation</a:t>
                </a:r>
                <a:endParaRPr lang="uk-UA" dirty="0"/>
              </a:p>
            </p:txBody>
          </p:sp>
        </mc:Choice>
        <mc:Fallback xmlns="">
          <p:sp>
            <p:nvSpPr>
              <p:cNvPr id="3" name="Місце для тексту 2">
                <a:extLst>
                  <a:ext uri="{FF2B5EF4-FFF2-40B4-BE49-F238E27FC236}">
                    <a16:creationId xmlns:a16="http://schemas.microsoft.com/office/drawing/2014/main" id="{1B18A7DB-F784-2501-E792-04E578CA77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52550" y="1655222"/>
                <a:ext cx="7038900" cy="2095778"/>
              </a:xfrm>
              <a:blipFill>
                <a:blip r:embed="rId2"/>
                <a:stretch>
                  <a:fillRect r="-693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EC220A5-9F1A-68EA-A4BE-D20D77FB1F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7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3486360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E289A-3D5C-649F-5F0C-D3431EB21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587395"/>
          </a:xfrm>
        </p:spPr>
        <p:txBody>
          <a:bodyPr>
            <a:noAutofit/>
          </a:bodyPr>
          <a:lstStyle/>
          <a:p>
            <a:r>
              <a:rPr lang="en-US" sz="2000" dirty="0"/>
              <a:t>Step 2: </a:t>
            </a:r>
            <a:r>
              <a:rPr lang="en-GB" sz="2000" dirty="0"/>
              <a:t>Model fitting and parameter identification</a:t>
            </a:r>
            <a:endParaRPr lang="uk-U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Місце для тексту 2">
                <a:extLst>
                  <a:ext uri="{FF2B5EF4-FFF2-40B4-BE49-F238E27FC236}">
                    <a16:creationId xmlns:a16="http://schemas.microsoft.com/office/drawing/2014/main" id="{BD0C77C1-9774-7E67-21DB-C6024D70ED9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97500" y="1114634"/>
                <a:ext cx="7038900" cy="3364116"/>
              </a:xfrm>
            </p:spPr>
            <p:txBody>
              <a:bodyPr/>
              <a:lstStyle/>
              <a:p>
                <a:pPr marL="146050" indent="0">
                  <a:buNone/>
                </a:pPr>
                <a:r>
                  <a:rPr lang="en-US" i="1" u="sng" dirty="0"/>
                  <a:t>The objective:</a:t>
                </a:r>
                <a:r>
                  <a:rPr lang="en-US" dirty="0"/>
                  <a:t> find the function, used to model learning curve:</a:t>
                </a:r>
              </a:p>
              <a:p>
                <a:endParaRPr lang="en-US" dirty="0"/>
              </a:p>
              <a:p>
                <a:pPr marL="14605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marL="146050" indent="0" algn="ctr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much smaller than 1;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within the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[−1, 0]</m:t>
                    </m:r>
                  </m:oMath>
                </a14:m>
                <a:r>
                  <a:rPr lang="en-US" dirty="0"/>
                  <a:t>;</a:t>
                </a:r>
              </a:p>
              <a:p>
                <a:endParaRPr lang="en-US" dirty="0"/>
              </a:p>
              <a:p>
                <a:r>
                  <a:rPr lang="en-US" dirty="0"/>
                  <a:t>Parameter identification was found using </a:t>
                </a:r>
                <a:r>
                  <a:rPr lang="en-GB" i="1" dirty="0"/>
                  <a:t>nonlinear weighted least squares optimization</a:t>
                </a:r>
                <a:r>
                  <a:rPr lang="en-GB" dirty="0"/>
                  <a:t> together with the </a:t>
                </a:r>
                <a:r>
                  <a:rPr lang="en-GB" dirty="0">
                    <a:latin typeface="Consolas" panose="020B0609020204030204" pitchFamily="49" charset="0"/>
                  </a:rPr>
                  <a:t>nl2sol</a:t>
                </a:r>
                <a:r>
                  <a:rPr lang="en-GB" dirty="0"/>
                  <a:t> routine</a:t>
                </a:r>
              </a:p>
              <a:p>
                <a:r>
                  <a:rPr lang="en-GB" dirty="0"/>
                  <a:t>Each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uk-U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has assigned weight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– total number of initial points</a:t>
                </a:r>
              </a:p>
            </p:txBody>
          </p:sp>
        </mc:Choice>
        <mc:Fallback xmlns="">
          <p:sp>
            <p:nvSpPr>
              <p:cNvPr id="3" name="Місце для тексту 2">
                <a:extLst>
                  <a:ext uri="{FF2B5EF4-FFF2-40B4-BE49-F238E27FC236}">
                    <a16:creationId xmlns:a16="http://schemas.microsoft.com/office/drawing/2014/main" id="{BD0C77C1-9774-7E67-21DB-C6024D70ED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7500" y="1114634"/>
                <a:ext cx="7038900" cy="336411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79CFD0C-7662-83DA-3A5B-1B643357B1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8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3692883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51C62-F2C4-A3D8-2EEC-E54D635A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574046"/>
          </a:xfrm>
        </p:spPr>
        <p:txBody>
          <a:bodyPr/>
          <a:lstStyle/>
          <a:p>
            <a:r>
              <a:rPr lang="en-US" dirty="0"/>
              <a:t>Evaluation(datasets)</a:t>
            </a:r>
            <a:endParaRPr lang="uk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7EC912F-0F28-D8FA-26DE-779F634ED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967796"/>
            <a:ext cx="7038900" cy="3510954"/>
          </a:xfrm>
        </p:spPr>
        <p:txBody>
          <a:bodyPr/>
          <a:lstStyle/>
          <a:p>
            <a:pPr marL="146050" indent="0">
              <a:buNone/>
            </a:pPr>
            <a:r>
              <a:rPr lang="en-US" dirty="0"/>
              <a:t>Used datasets:</a:t>
            </a:r>
          </a:p>
          <a:p>
            <a:pPr marL="146050" indent="0">
              <a:buNone/>
            </a:pPr>
            <a:endParaRPr lang="en-US" dirty="0"/>
          </a:p>
          <a:p>
            <a:r>
              <a:rPr lang="en-US" dirty="0"/>
              <a:t>D1: </a:t>
            </a:r>
            <a:r>
              <a:rPr lang="en-GB" dirty="0"/>
              <a:t>Smoking-related sentences from patient discharge summaries</a:t>
            </a:r>
          </a:p>
          <a:p>
            <a:pPr lvl="1"/>
            <a:r>
              <a:rPr lang="en-GB" dirty="0"/>
              <a:t>7016 </a:t>
            </a:r>
            <a:r>
              <a:rPr lang="en-US" dirty="0"/>
              <a:t>sentences, target classes: smoker, no smoker</a:t>
            </a:r>
          </a:p>
          <a:p>
            <a:pPr lvl="1"/>
            <a:r>
              <a:rPr lang="en-US" dirty="0"/>
              <a:t>Test dataset size: 1000</a:t>
            </a:r>
          </a:p>
          <a:p>
            <a:pPr marL="615950" lvl="1" indent="0">
              <a:buNone/>
            </a:pPr>
            <a:endParaRPr lang="en-US" dirty="0"/>
          </a:p>
          <a:p>
            <a:r>
              <a:rPr lang="en-US" dirty="0"/>
              <a:t>D2: </a:t>
            </a:r>
            <a:r>
              <a:rPr lang="en-GB" dirty="0"/>
              <a:t>Smoking-related sentences from patient discharge summaries</a:t>
            </a:r>
          </a:p>
          <a:p>
            <a:pPr lvl="1"/>
            <a:r>
              <a:rPr lang="en-GB" dirty="0"/>
              <a:t>8449 sentences, target classes: past smoker, current smoker</a:t>
            </a:r>
          </a:p>
          <a:p>
            <a:pPr lvl="1"/>
            <a:r>
              <a:rPr lang="en-US" dirty="0"/>
              <a:t>Test dataset size: 1000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D3: </a:t>
            </a:r>
            <a:r>
              <a:rPr lang="en-US" dirty="0"/>
              <a:t>Waveform-5000</a:t>
            </a:r>
          </a:p>
          <a:p>
            <a:pPr lvl="1"/>
            <a:r>
              <a:rPr lang="en-US" dirty="0"/>
              <a:t>21 features, 5000 samples, 3 classes(wave 1, wave 2, wave 3). Target classes: wave 1, wave 2 or wave 3</a:t>
            </a:r>
          </a:p>
          <a:p>
            <a:pPr lvl="1"/>
            <a:r>
              <a:rPr lang="en-US" dirty="0"/>
              <a:t>Test dataset size: 2500</a:t>
            </a:r>
            <a:endParaRPr lang="en-GB" dirty="0"/>
          </a:p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6787B8E-F4BC-132A-AF28-216A37F6B7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9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3853538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FCEEC-B2E2-1AD6-1169-B607E6FB7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540673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Evaluation(parameters)</a:t>
            </a:r>
            <a:br>
              <a:rPr lang="en-US" dirty="0"/>
            </a:b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Місце для тексту 2">
                <a:extLst>
                  <a:ext uri="{FF2B5EF4-FFF2-40B4-BE49-F238E27FC236}">
                    <a16:creationId xmlns:a16="http://schemas.microsoft.com/office/drawing/2014/main" id="{2757090F-1920-AB78-8131-CE98C57BC15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97500" y="1114634"/>
                <a:ext cx="7038900" cy="3364116"/>
              </a:xfrm>
            </p:spPr>
            <p:txBody>
              <a:bodyPr/>
              <a:lstStyle/>
              <a:p>
                <a:r>
                  <a:rPr lang="en-US" dirty="0"/>
                  <a:t>Used model: SVM </a:t>
                </a:r>
                <a:r>
                  <a:rPr lang="en-GB" dirty="0"/>
                  <a:t>with a linear kernel (WEKA implementation):</a:t>
                </a:r>
              </a:p>
              <a:p>
                <a:pPr lvl="1"/>
                <a:r>
                  <a:rPr lang="en-GB" dirty="0"/>
                  <a:t>Complexity constant =1, epsilon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−12</m:t>
                        </m:r>
                      </m:sup>
                    </m:sSup>
                  </m:oMath>
                </a14:m>
                <a:r>
                  <a:rPr lang="en-US" dirty="0"/>
                  <a:t>, tolerance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dirty="0"/>
                  <a:t>, without normalization and standardization;</a:t>
                </a:r>
              </a:p>
              <a:p>
                <a:r>
                  <a:rPr lang="en-US" dirty="0"/>
                  <a:t>Used sampling strategies:</a:t>
                </a:r>
              </a:p>
              <a:p>
                <a:pPr lvl="1"/>
                <a:r>
                  <a:rPr lang="en-US" dirty="0"/>
                  <a:t>Random;</a:t>
                </a:r>
              </a:p>
              <a:p>
                <a:pPr lvl="1"/>
                <a:r>
                  <a:rPr lang="en-US" dirty="0"/>
                  <a:t>Distance(DIST): </a:t>
                </a:r>
                <a:r>
                  <a:rPr lang="en-GB" dirty="0"/>
                  <a:t>selection based on their proximity to the SVM hyperplane;</a:t>
                </a:r>
              </a:p>
              <a:p>
                <a:pPr lvl="1"/>
                <a:r>
                  <a:rPr lang="en-GB" dirty="0"/>
                  <a:t>Diversity(DIV): selection based on dissimilarity (cosine distance) to reduce information redundancy;</a:t>
                </a:r>
              </a:p>
              <a:p>
                <a:pPr lvl="1"/>
                <a:r>
                  <a:rPr lang="en-GB" dirty="0"/>
                  <a:t>Combined(CMB): hybrid approach utilizing DIST, DIV;</a:t>
                </a:r>
              </a:p>
              <a:p>
                <a:r>
                  <a:rPr lang="en-US" dirty="0"/>
                  <a:t>Batch size(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): 16;</a:t>
                </a:r>
              </a:p>
              <a:p>
                <a:r>
                  <a:rPr lang="en-GB" dirty="0"/>
                  <a:t>Each experiment was repeated 100 times, and results were averaged to ensure smooth learning curves</a:t>
                </a:r>
              </a:p>
              <a:p>
                <a:pPr marL="61595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Місце для тексту 2">
                <a:extLst>
                  <a:ext uri="{FF2B5EF4-FFF2-40B4-BE49-F238E27FC236}">
                    <a16:creationId xmlns:a16="http://schemas.microsoft.com/office/drawing/2014/main" id="{2757090F-1920-AB78-8131-CE98C57BC1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7500" y="1114634"/>
                <a:ext cx="7038900" cy="336411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740E748-D774-AC6F-5AAC-541E1A3419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10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900178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96D66-A82C-829F-B60C-1F9C4254A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647465"/>
          </a:xfrm>
        </p:spPr>
        <p:txBody>
          <a:bodyPr/>
          <a:lstStyle/>
          <a:p>
            <a:r>
              <a:rPr lang="en-US" dirty="0"/>
              <a:t>Evaluation(goodness metrics)</a:t>
            </a:r>
            <a:endParaRPr lang="uk-U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тексту 2">
                <a:extLst>
                  <a:ext uri="{FF2B5EF4-FFF2-40B4-BE49-F238E27FC236}">
                    <a16:creationId xmlns:a16="http://schemas.microsoft.com/office/drawing/2014/main" id="{0329B22B-CCD6-1A80-679F-32EF5534BD2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97500" y="1168029"/>
                <a:ext cx="7038900" cy="3310721"/>
              </a:xfrm>
            </p:spPr>
            <p:txBody>
              <a:bodyPr>
                <a:normAutofit/>
              </a:bodyPr>
              <a:lstStyle/>
              <a:p>
                <a:pPr marL="146050" indent="0">
                  <a:buNone/>
                </a:pPr>
                <a:r>
                  <a:rPr lang="en-US" dirty="0"/>
                  <a:t>Used goodness metrics for approximated function:</a:t>
                </a:r>
              </a:p>
              <a:p>
                <a:pPr marL="488950" indent="-342900">
                  <a:buFont typeface="+mj-lt"/>
                  <a:buAutoNum type="arabicPeriod"/>
                </a:pPr>
                <a:r>
                  <a:rPr lang="en-US" dirty="0"/>
                  <a:t>Mean absolute error(MAE)</a:t>
                </a:r>
              </a:p>
              <a:p>
                <a:pPr marL="488950" indent="-342900">
                  <a:buFont typeface="+mj-lt"/>
                  <a:buAutoNum type="arabicPeriod"/>
                </a:pPr>
                <a:endParaRPr lang="en-US" dirty="0"/>
              </a:p>
              <a:p>
                <a:pPr marL="1460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uk-UA" dirty="0"/>
              </a:p>
              <a:p>
                <a:pPr marL="146050" indent="0">
                  <a:buNone/>
                </a:pPr>
                <a:r>
                  <a:rPr lang="uk-UA" dirty="0"/>
                  <a:t>	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uk-UA" dirty="0"/>
                  <a:t> - </a:t>
                </a:r>
                <a:r>
                  <a:rPr lang="en-US" dirty="0"/>
                  <a:t>points, used for validation</a:t>
                </a:r>
              </a:p>
              <a:p>
                <a:pPr marL="146050" indent="0">
                  <a:buNone/>
                </a:pPr>
                <a:endParaRPr lang="en-US" dirty="0"/>
              </a:p>
              <a:p>
                <a:pPr marL="488950" indent="-342900">
                  <a:buFont typeface="+mj-lt"/>
                  <a:buAutoNum type="arabicPeriod" startAt="2"/>
                </a:pPr>
                <a:r>
                  <a:rPr lang="en-US" dirty="0"/>
                  <a:t>Root mean squared error(RMSE)</a:t>
                </a:r>
              </a:p>
              <a:p>
                <a:pPr marL="488950" indent="-342900">
                  <a:buFont typeface="+mj-lt"/>
                  <a:buAutoNum type="arabicPeriod" startAt="2"/>
                </a:pPr>
                <a:endParaRPr lang="en-US" dirty="0"/>
              </a:p>
              <a:p>
                <a:pPr marL="1460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uk-UA" dirty="0"/>
              </a:p>
            </p:txBody>
          </p:sp>
        </mc:Choice>
        <mc:Fallback>
          <p:sp>
            <p:nvSpPr>
              <p:cNvPr id="3" name="Місце для тексту 2">
                <a:extLst>
                  <a:ext uri="{FF2B5EF4-FFF2-40B4-BE49-F238E27FC236}">
                    <a16:creationId xmlns:a16="http://schemas.microsoft.com/office/drawing/2014/main" id="{0329B22B-CCD6-1A80-679F-32EF5534BD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97500" y="1168029"/>
                <a:ext cx="7038900" cy="331072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21B6E31-23BA-556E-0CAC-932DF59AA2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11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3010275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0F9EE-947D-BFAD-39D2-3F8615272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634116"/>
          </a:xfrm>
        </p:spPr>
        <p:txBody>
          <a:bodyPr/>
          <a:lstStyle/>
          <a:p>
            <a:r>
              <a:rPr lang="en-US" dirty="0"/>
              <a:t>Results (learning curves)</a:t>
            </a:r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F8DB9F90-CCE3-7206-7DBE-5FC4BD58F1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12</a:t>
            </a:fld>
            <a:endParaRPr lang="uk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F33750-0BAD-9649-5810-6E175CBB0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197" y="956585"/>
            <a:ext cx="3912838" cy="390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45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18050-E166-BFFA-1C03-662636B3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460580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Results(MAE and confidence interval width)</a:t>
            </a:r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937DEB4-F45A-0AB4-5CFA-01623B493B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13</a:t>
            </a:fld>
            <a:endParaRPr lang="uk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0788EA-D168-2591-1210-F037BE382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274" y="981716"/>
            <a:ext cx="4821451" cy="39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79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15125-816C-B1DE-8D9F-823AD8A48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614092"/>
          </a:xfrm>
        </p:spPr>
        <p:txBody>
          <a:bodyPr/>
          <a:lstStyle/>
          <a:p>
            <a:r>
              <a:rPr lang="en-US" dirty="0"/>
              <a:t>Results(RMSE)</a:t>
            </a:r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66E902D-628A-F6D0-A1F5-E6E060103F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14</a:t>
            </a:fld>
            <a:endParaRPr lang="uk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7DF2A5-F756-4242-E828-8B54454E9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00" y="1007842"/>
            <a:ext cx="6314973" cy="374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88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25827-9FCF-A826-E0DE-C62846B62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600743"/>
          </a:xfrm>
        </p:spPr>
        <p:txBody>
          <a:bodyPr/>
          <a:lstStyle/>
          <a:p>
            <a:r>
              <a:rPr lang="en-US" dirty="0"/>
              <a:t>Results</a:t>
            </a:r>
            <a:endParaRPr lang="uk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1BBC605-C3F5-0B04-0C16-D104533E4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261472"/>
            <a:ext cx="7038900" cy="3217278"/>
          </a:xfrm>
        </p:spPr>
        <p:txBody>
          <a:bodyPr/>
          <a:lstStyle/>
          <a:p>
            <a:pPr marL="488950" indent="-342900">
              <a:buFont typeface="+mj-lt"/>
              <a:buAutoNum type="arabicPeriod"/>
            </a:pPr>
            <a:r>
              <a:rPr lang="en-US" dirty="0"/>
              <a:t>Proposed method </a:t>
            </a:r>
            <a:r>
              <a:rPr lang="en-GB" dirty="0"/>
              <a:t>significantly outperformed</a:t>
            </a:r>
            <a:r>
              <a:rPr lang="uk-UA" dirty="0"/>
              <a:t>(</a:t>
            </a:r>
            <a:r>
              <a:rPr lang="en-US" dirty="0"/>
              <a:t>error &lt;1%)</a:t>
            </a:r>
            <a:r>
              <a:rPr lang="en-GB" dirty="0"/>
              <a:t> the unweighted baseline (Mukherjee et al.) across all datasets;</a:t>
            </a:r>
          </a:p>
          <a:p>
            <a:pPr marL="488950" indent="-342900">
              <a:buFont typeface="+mj-lt"/>
              <a:buAutoNum type="arabicPeriod"/>
            </a:pPr>
            <a:r>
              <a:rPr lang="en-GB" dirty="0"/>
              <a:t>Improvements in forecasting accuracy were statistically significant with p-value &lt; 0.05;</a:t>
            </a:r>
          </a:p>
          <a:p>
            <a:pPr marL="488950" indent="-342900">
              <a:buFont typeface="+mj-lt"/>
              <a:buAutoNum type="arabicPeriod"/>
            </a:pPr>
            <a:r>
              <a:rPr lang="en-GB" dirty="0"/>
              <a:t>Stable predictions were achieved with as few as 80 to 560 initial training instances, depending on the dataset;</a:t>
            </a:r>
          </a:p>
          <a:p>
            <a:pPr marL="488950" indent="-342900">
              <a:buFont typeface="+mj-lt"/>
              <a:buAutoNum type="arabicPeriod"/>
            </a:pPr>
            <a:r>
              <a:rPr lang="en-GB" dirty="0"/>
              <a:t>The method proved effective for both clinical text classification (D1, D2) and numeric waveform data (D3), showing its versatility across different AI domains;</a:t>
            </a:r>
          </a:p>
          <a:p>
            <a:endParaRPr lang="en-GB" dirty="0"/>
          </a:p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3B2585E-E0BF-CC08-AFED-1125D523BA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15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2842968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6D408-CF3A-D05F-4A57-A3EE31940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50" y="1281452"/>
            <a:ext cx="7038900" cy="914100"/>
          </a:xfrm>
        </p:spPr>
        <p:txBody>
          <a:bodyPr/>
          <a:lstStyle/>
          <a:p>
            <a:r>
              <a:rPr lang="en-US" dirty="0"/>
              <a:t>Thank you for attention!</a:t>
            </a:r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2069B20C-87CB-CFCB-2C4A-294A91B874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mtClean="0"/>
              <a:t>16</a:t>
            </a:fld>
            <a:endParaRPr lang="uk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6529BB-3B60-A9F7-55C8-2F61438E9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534" y="2195552"/>
            <a:ext cx="3020931" cy="198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36186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814</Words>
  <Application>Microsoft Office PowerPoint</Application>
  <PresentationFormat>Екран (16:9)</PresentationFormat>
  <Paragraphs>108</Paragraphs>
  <Slides>16</Slides>
  <Notes>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16</vt:i4>
      </vt:variant>
    </vt:vector>
  </HeadingPairs>
  <TitlesOfParts>
    <vt:vector size="22" baseType="lpstr">
      <vt:lpstr>Cambria Math</vt:lpstr>
      <vt:lpstr>Montserrat</vt:lpstr>
      <vt:lpstr>Consolas</vt:lpstr>
      <vt:lpstr>Lato</vt:lpstr>
      <vt:lpstr>Arial</vt:lpstr>
      <vt:lpstr>Focus</vt:lpstr>
      <vt:lpstr>Predicting sample size required for classification performance</vt:lpstr>
      <vt:lpstr>Motivation</vt:lpstr>
      <vt:lpstr>Previous and related work(Mukherjee’s approach): Learning curve fitting</vt:lpstr>
      <vt:lpstr>Learning curve example</vt:lpstr>
      <vt:lpstr>Previous and related work (Mukherjee’s approach):</vt:lpstr>
      <vt:lpstr>Proposed algorithm</vt:lpstr>
      <vt:lpstr>Step 1: Learning curve creation </vt:lpstr>
      <vt:lpstr>Step 2: Model fitting and parameter identification</vt:lpstr>
      <vt:lpstr>Evaluation(datasets)</vt:lpstr>
      <vt:lpstr>Evaluation(parameters) </vt:lpstr>
      <vt:lpstr>Evaluation(goodness metrics)</vt:lpstr>
      <vt:lpstr>Results (learning curves)</vt:lpstr>
      <vt:lpstr>Results(MAE and confidence interval width)</vt:lpstr>
      <vt:lpstr>Results(RMSE)</vt:lpstr>
      <vt:lpstr>Results</vt:lpstr>
      <vt:lpstr>Thank you for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Roman Prokopchuk</cp:lastModifiedBy>
  <cp:revision>94</cp:revision>
  <dcterms:modified xsi:type="dcterms:W3CDTF">2026-02-22T19:23:07Z</dcterms:modified>
</cp:coreProperties>
</file>